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59E0B"/>
                </a:solidFill>
              </a:defRPr>
            </a:pPr>
            <a:r>
              <a:t>MOVEINSYNC EMPLOYEE APP</a:t>
            </a:r>
          </a:p>
          <a:p>
            <a:pPr>
              <a:spcAft>
                <a:spcPts val="1600"/>
              </a:spcAft>
              <a:defRPr sz="3800" b="1">
                <a:solidFill>
                  <a:srgbClr val="FFFFFF"/>
                </a:solidFill>
              </a:defRPr>
            </a:pPr>
            <a:r>
              <a:t>Play Store Ratings Diagnosis &amp; Turnaround Strategy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Forward Deployed Engineer (FDE) Case Study Solution &amp; Execution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237744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2600" b="1">
                <a:solidFill>
                  <a:srgbClr val="F59E0B"/>
                </a:solidFill>
              </a:defRPr>
            </a:pPr>
            <a:r>
              <a:t>4.32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Lifetime Rating (114.5k reviews)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4754880"/>
            <a:ext cx="237744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~3.0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Recent 30-Day Average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754880"/>
            <a:ext cx="237744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2600" b="1">
                <a:solidFill>
                  <a:srgbClr val="EF4444"/>
                </a:solidFill>
              </a:defRPr>
            </a:pPr>
            <a:r>
              <a:t>12%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1-Star Rating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4754880"/>
            <a:ext cx="237744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sz="2600" b="1">
                <a:solidFill>
                  <a:srgbClr val="F59E0B"/>
                </a:solidFill>
              </a:defRPr>
            </a:pPr>
            <a:r>
              <a:t>60 Days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Target Recovery to 4.3+ Stars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Core Dilemma: The Silent Rating Erosion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Why a 4.32 star vanity metric masks a high-severity customer satisfaction cliff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0F172A"/>
                </a:solidFill>
              </a:defRPr>
            </a:pPr>
            <a:r>
              <a:t>The Mathematical Inertia Trap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563EB"/>
                </a:solidFill>
              </a:rPr>
              <a:t>• Massive Lifetime Base:</a:t>
            </a:r>
            <a:r>
              <a:rPr sz="1200">
                <a:solidFill>
                  <a:srgbClr val="0F172A"/>
                </a:solidFill>
              </a:rPr>
              <a:t> 114,500+ lifetime reviews anchor the public store badge at 4.32, creating a false sense of health.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563EB"/>
                </a:solidFill>
              </a:rPr>
              <a:t>• Recent Rolling Average:</a:t>
            </a:r>
            <a:r>
              <a:rPr sz="1200">
                <a:solidFill>
                  <a:srgbClr val="0F172A"/>
                </a:solidFill>
              </a:rPr>
              <a:t> New reviews over the last 30 days average ~3.0 stars, indicating recent release regression.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563EB"/>
                </a:solidFill>
              </a:rPr>
              <a:t>• U-Shaped Bimodal Curve:</a:t>
            </a:r>
            <a:r>
              <a:rPr sz="1200">
                <a:solidFill>
                  <a:srgbClr val="0F172A"/>
                </a:solidFill>
              </a:rPr>
              <a:t> Ratings are split between 5-star happy commuters and 1-star furious employees hit by operational penalties.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563EB"/>
                </a:solidFill>
              </a:rPr>
              <a:t>• B2B2C Vulnerability:</a:t>
            </a:r>
            <a:r>
              <a:rPr sz="1200">
                <a:solidFill>
                  <a:srgbClr val="0F172A"/>
                </a:solidFill>
              </a:rPr>
              <a:t> Enterprise employees cannot switch apps; when frustrated, the public Google Play Store is their only escalation forum.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0F172A"/>
                </a:solidFill>
              </a:defRPr>
            </a:pPr>
            <a:r>
              <a:t>Rating Distribution &amp; Negative Sentiment Mix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0B981"/>
                </a:solidFill>
              </a:rPr>
              <a:t>★★★★★ (5 Stars) : 68%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0B981"/>
                </a:solidFill>
              </a:rPr>
              <a:t>★★★★☆ (4 Stars) : 12%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</a:rPr>
              <a:t>★★★☆☆ (3 Stars) : 4%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</a:rPr>
              <a:t>★★☆☆☆ (2 Stars) : 4%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EF4444"/>
                </a:solidFill>
              </a:rPr>
              <a:t>★☆☆☆☆ (1 Star) : 12% (~13,700 users)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Primary Complaint Drivers (from 1-Star Analysis):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1. Driver No-Show penalties &amp; false salary deductions (45% of 1★)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2. Booking date jump bug / incorrect date allocation (25% of 1★)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3. Live GPS lag &amp; erratic ETA jumps (15% of 1★)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4. UI confusion, background crashes &amp; 0% dev reply rate (15% of 1★)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Root Cause Analysis: Why Users Are Angry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Systemic classification across Product, Engineering, and Field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 rIns="228600"/>
          <a:lstStyle/>
          <a:p>
            <a:pPr algn="ctr"/>
            <a:r>
              <a:rPr b="1" sz="1300">
                <a:solidFill>
                  <a:srgbClr val="0F172A"/>
                </a:solidFill>
              </a:rPr>
              <a:t>P0-1: Driver No-Show &amp; Penalty Deduction</a:t>
            </a:r>
            <a:r>
              <a:rPr b="1" sz="1000">
                <a:solidFill>
                  <a:srgbClr val="EF4444"/>
                </a:solidFill>
              </a:rPr>
              <a:t>  [FINANCIAL IMPACT]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Driver prematurely marks 'No Show' while employee is waiting at pickup spot. Automatic payroll penalties trigger without employee verification or GPS proximity fence check.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95728"/>
            <a:ext cx="106984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 rIns="228600"/>
          <a:lstStyle/>
          <a:p>
            <a:pPr algn="ctr"/>
            <a:r>
              <a:rPr b="1" sz="1300">
                <a:solidFill>
                  <a:srgbClr val="0F172A"/>
                </a:solidFill>
              </a:rPr>
              <a:t>P0-2: Date Picker &amp; Booking Time Glitch</a:t>
            </a:r>
            <a:r>
              <a:rPr b="1" sz="1000">
                <a:solidFill>
                  <a:srgbClr val="EF4444"/>
                </a:solidFill>
              </a:rPr>
              <a:t>  [CORE WORKFLOW BREAK]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Booking calendar defaults to current day instead of next workday, causing accidental bookings, lost seat allocations, and employee disciplinary strikes.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19856"/>
            <a:ext cx="106984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 rIns="228600"/>
          <a:lstStyle/>
          <a:p>
            <a:pPr algn="ctr"/>
            <a:r>
              <a:rPr b="1" sz="1300">
                <a:solidFill>
                  <a:srgbClr val="0F172A"/>
                </a:solidFill>
              </a:rPr>
              <a:t>P0-3: GPS Telemetry &amp; Phantom Pickup Times</a:t>
            </a:r>
            <a:r>
              <a:rPr b="1" sz="1000">
                <a:solidFill>
                  <a:srgbClr val="EF4444"/>
                </a:solidFill>
              </a:rPr>
              <a:t>  [TECH STACK / INFRA]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Driver location freezes or updates every 3-5 mins due to aggressive OS background battery killers on cheap driver handsets. ETA jumps erratically.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43984"/>
            <a:ext cx="106984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 rIns="228600"/>
          <a:lstStyle/>
          <a:p>
            <a:pPr algn="ctr"/>
            <a:r>
              <a:rPr b="1" sz="1300">
                <a:solidFill>
                  <a:srgbClr val="0F172A"/>
                </a:solidFill>
              </a:rPr>
              <a:t>P0-4: Developer Zero-Reply Deficit</a:t>
            </a:r>
            <a:r>
              <a:rPr b="1" sz="1000">
                <a:solidFill>
                  <a:srgbClr val="F59E0B"/>
                </a:solidFill>
              </a:rPr>
              <a:t>  [COMMUNITY TRUST]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Public Play Store response rate is near 0%. Disgruntled enterprise users feel completely unheard, amplifying negative review retention.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68112"/>
            <a:ext cx="106984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 rIns="228600"/>
          <a:lstStyle/>
          <a:p>
            <a:pPr algn="ctr"/>
            <a:r>
              <a:rPr b="1" sz="1300">
                <a:solidFill>
                  <a:srgbClr val="0F172A"/>
                </a:solidFill>
              </a:rPr>
              <a:t>P0-5: Android 14/15 Background Crash Spikes</a:t>
            </a:r>
            <a:r>
              <a:rPr b="1" sz="1000">
                <a:solidFill>
                  <a:srgbClr val="F59E0B"/>
                </a:solidFill>
              </a:rPr>
              <a:t>  [STABILITY &amp; CRASH]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Strict background battery optimization kills Foreground Location Services, crashing the app at launch on newer OEM ROMs.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FDE Action Plan: Targeted Solutions &amp; Ownership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High-leverage engineering &amp; operational interventions prioritized by impact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286000"/>
                <a:gridCol w="3931920"/>
                <a:gridCol w="1645920"/>
                <a:gridCol w="1828800"/>
              </a:tblGrid>
              <a:tr h="792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Problem Area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Engineering &amp; Operational Intervention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Target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No-Show &amp; Penalty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Enforce 50m Geofence + 3-min countdown before driver can hit No-Show; 24h grace dispute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FDE + Backend Eng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-70% No-show disputes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Booking Date Bug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Default calendar to 'Next Working Day'; date chip banner confirmation before submit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Android / Mobile Team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0 misdated bookings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GPS / ETA Stalls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Kalman filter on driver coordinates; Dead reckoning fallback; Driver heartbeat telemetry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Mobile + Infra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ETA error &lt; 2 mins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0% Reply Rate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Deploy automated triage bot + Zendesk webhook for 1-2 star reviews; 24h SLA target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Support / CX Lead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&gt;80% reply rate in 14d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Android Crashes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Targeted update for Android 14/15 Foreground Services &amp; WorkManager crash hooks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Android Eng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&gt;99.5% crash-free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Phased Execution Roadmap: Rapid Stabilization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From fire-fighting P0 fixes to proactive telemetry and review inversion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4688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spcAft>
                <a:spcPts val="400"/>
              </a:spcAft>
              <a:defRPr b="1" sz="1300">
                <a:solidFill>
                  <a:srgbClr val="EF4444"/>
                </a:solidFill>
              </a:defRPr>
            </a:pPr>
            <a:r>
              <a:t>Week 1 - 2</a:t>
            </a:r>
          </a:p>
          <a:p>
            <a:pPr>
              <a:spcAft>
                <a:spcPts val="1400"/>
              </a:spcAft>
              <a:defRPr b="1" sz="1200">
                <a:solidFill>
                  <a:srgbClr val="0F172A"/>
                </a:solidFill>
              </a:defRPr>
            </a:pPr>
            <a:r>
              <a:t>P0 Quick Wins &amp; Stabilization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✓ Hotfix booking calendar date picker logic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✓ Introduce Driver Geofence check for No-Show button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✓ Set up Zendesk integration for Play Store review replies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✓ Deploy 'playstore_pulse.py' for daily sentiment capture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371600"/>
            <a:ext cx="24688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spcAft>
                <a:spcPts val="400"/>
              </a:spcAft>
              <a:defRPr b="1" sz="1300">
                <a:solidFill>
                  <a:srgbClr val="2563EB"/>
                </a:solidFill>
              </a:defRPr>
            </a:pPr>
            <a:r>
              <a:t>Week 3 - 4</a:t>
            </a:r>
          </a:p>
          <a:p>
            <a:pPr>
              <a:spcAft>
                <a:spcPts val="1400"/>
              </a:spcAft>
              <a:defRPr b="1" sz="1200">
                <a:solidFill>
                  <a:srgbClr val="0F172A"/>
                </a:solidFill>
              </a:defRPr>
            </a:pPr>
            <a:r>
              <a:t>Telemetry &amp; Dispute Safety Net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✓ Ship 24-hr in-app payroll penalty dispute button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✓ GPS Kalman smoothing + heartbeat reconnect on driver app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✓ Targeted fix for Android 14/15 background service crashes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✓ Reach 80%+ response rate on incoming negative reviews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24688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spcAft>
                <a:spcPts val="400"/>
              </a:spcAft>
              <a:defRPr b="1" sz="1300">
                <a:solidFill>
                  <a:srgbClr val="F59E0B"/>
                </a:solidFill>
              </a:defRPr>
            </a:pPr>
            <a:r>
              <a:t>Month 2</a:t>
            </a:r>
          </a:p>
          <a:p>
            <a:pPr>
              <a:spcAft>
                <a:spcPts val="1400"/>
              </a:spcAft>
              <a:defRPr b="1" sz="1200">
                <a:solidFill>
                  <a:srgbClr val="0F172A"/>
                </a:solidFill>
              </a:defRPr>
            </a:pPr>
            <a:r>
              <a:t>Experience Polish &amp; Positive Prompts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✓ Redesign seatbelt / OTP confirmation flow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✓ Implement in-app rating prompt triggered only after 3 consecutive 5-star rides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✓ Driver incentive score tied to on-time geofence compliance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✓ Bi-weekly executive review with Enterprise Account Managers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371600"/>
            <a:ext cx="24688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/>
          <a:lstStyle/>
          <a:p>
            <a:pPr algn="ctr">
              <a:spcAft>
                <a:spcPts val="400"/>
              </a:spcAft>
              <a:defRPr b="1" sz="1300">
                <a:solidFill>
                  <a:srgbClr val="10B981"/>
                </a:solidFill>
              </a:defRPr>
            </a:pPr>
            <a:r>
              <a:t>Month 3+</a:t>
            </a:r>
          </a:p>
          <a:p>
            <a:pPr>
              <a:spcAft>
                <a:spcPts val="1400"/>
              </a:spcAft>
              <a:defRPr b="1" sz="1200">
                <a:solidFill>
                  <a:srgbClr val="0F172A"/>
                </a:solidFill>
              </a:defRPr>
            </a:pPr>
            <a:r>
              <a:t>Sustained Excellence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✓ Automated weekly 'playstore_pulse.py' Slack / Email alert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✓ Maintain 99.5%+ crash-free user rate across all OEM devices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✓ Public Play Store 30-day moving average locked at 4.3+ stars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✓ Zero false payroll penalty complaints escalated to client HR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Proactive Monitoring: playstore_pulse.py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An automated Python tool designed by the FDE to ensure no silent sentiment drops recur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/>
          <a:lstStyle/>
          <a:p>
            <a:pPr algn="ctr">
              <a:spcAft>
                <a:spcPts val="800"/>
              </a:spcAft>
              <a:defRPr b="1" sz="1600">
                <a:solidFill>
                  <a:srgbClr val="F59E0B"/>
                </a:solidFill>
              </a:defRPr>
            </a:pPr>
            <a:r>
              <a:t>Engine Architecture &amp; Pipeline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1. Google Play Scraper Engine:</a:t>
            </a:r>
            <a:r>
              <a:rPr sz="1100">
                <a:solidFill>
                  <a:srgbClr val="CBD5E1"/>
                </a:solidFill>
              </a:rPr>
              <a:t> Fetches recent 500+ reviews for `com.moveinsync.ets` directly from the Play Store.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2. Keyword Theme Classifier:</a:t>
            </a:r>
            <a:r>
              <a:rPr sz="1100">
                <a:solidFill>
                  <a:srgbClr val="CBD5E1"/>
                </a:solidFill>
              </a:rPr>
              <a:t> Multi-label tagging into 8 key themes (No Show, Booking bug, GPS/ETA, Crashes, UI, Support).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3. 6-Line Standard Answer:</a:t>
            </a:r>
            <a:r>
              <a:rPr sz="1100">
                <a:solidFill>
                  <a:srgbClr val="CBD5E1"/>
                </a:solidFill>
              </a:rPr>
              <a:t> Generates an executive-ready weekly status update instantly readable in 10 seconds.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4. JSON Snapshot History:</a:t>
            </a:r>
            <a:r>
              <a:rPr sz="1100">
                <a:solidFill>
                  <a:srgbClr val="CBD5E1"/>
                </a:solidFill>
              </a:rPr>
              <a:t> Persists structured snapshots under `/pulse_snapshots` for week-on-week delta tracking.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5. Tagged CSV Export:</a:t>
            </a:r>
            <a:r>
              <a:rPr sz="1100">
                <a:solidFill>
                  <a:srgbClr val="CBD5E1"/>
                </a:solidFill>
              </a:rPr>
              <a:t> Exports detailed raw dataset for engineering sprint triage.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/>
          <a:lstStyle/>
          <a:p>
            <a:pPr algn="ctr">
              <a:spcAft>
                <a:spcPts val="1000"/>
              </a:spcAft>
              <a:defRPr b="1" sz="1600">
                <a:solidFill>
                  <a:srgbClr val="0F172A"/>
                </a:solidFill>
              </a:defRPr>
            </a:pPr>
            <a:r>
              <a:t>Sample Executive 6-Line Weekly Output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</a:defRPr>
            </a:pPr>
            <a:r>
              <a:t>1. Current Lifetime Rating : 4.32 / 5.0 (114,528 total)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</a:defRPr>
            </a:pPr>
            <a:r>
              <a:t>2. 30-Day Moving Average  : 3.01 / 5.0 (-0.12 vs last week)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</a:defRPr>
            </a:pPr>
            <a:r>
              <a:t>3. 1-Star Share (Recent)  : 41.2% of recent ratings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</a:defRPr>
            </a:pPr>
            <a:r>
              <a:t>4. Top Negative Theme     : No Show / penalty (43% of 1-star)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</a:defRPr>
            </a:pPr>
            <a:r>
              <a:t>5. Emerging Spike         : Booking date bug (+14% WoW)</a:t>
            </a:r>
          </a:p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</a:defRPr>
            </a:pPr>
            <a:r>
              <a:t>6. Recommended P0 Action  : Enforce Driver Geofence check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Run locally anytime in 1 step:</a:t>
            </a:r>
            <a:br/>
            <a:r>
              <a:t>$ python playstore_pulse.py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Projected Impact: Quantifiable Turnaround Targets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60-day recovery trajectory across app rating, user trust, and enterprise SLAs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 rIns="228600"/>
          <a:lstStyle/>
          <a:p>
            <a:pPr algn="ctr"/>
            <a:r>
              <a:rPr b="1" sz="1300">
                <a:solidFill>
                  <a:srgbClr val="0F172A"/>
                </a:solidFill>
              </a:rPr>
              <a:t>30-Day Rolling Rating</a:t>
            </a:r>
            <a:r>
              <a:rPr b="1" sz="1200">
                <a:solidFill>
                  <a:srgbClr val="10B981"/>
                </a:solidFill>
              </a:rPr>
              <a:t>   Current: ~3.0 Stars   -&gt;   Target: 4.3+ Stars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Achieved by eliminating top 3 penalty &amp; booking bugs causing 70% of 1-star reviews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106984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 rIns="228600"/>
          <a:lstStyle/>
          <a:p>
            <a:pPr algn="ctr"/>
            <a:r>
              <a:rPr b="1" sz="1300">
                <a:solidFill>
                  <a:srgbClr val="0F172A"/>
                </a:solidFill>
              </a:rPr>
              <a:t>1-Star Review Share</a:t>
            </a:r>
            <a:r>
              <a:rPr b="1" sz="1200">
                <a:solidFill>
                  <a:srgbClr val="10B981"/>
                </a:solidFill>
              </a:rPr>
              <a:t>   Current: 12% Lifetime (40% recent)   -&gt;   Target: &lt; 8%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Preventing accidental no-show deductions removes the #1 user trigger to leave 1 star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40"/>
            <a:ext cx="106984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 rIns="228600"/>
          <a:lstStyle/>
          <a:p>
            <a:pPr algn="ctr"/>
            <a:r>
              <a:rPr b="1" sz="1300">
                <a:solidFill>
                  <a:srgbClr val="0F172A"/>
                </a:solidFill>
              </a:rPr>
              <a:t>Play Store Developer Reply Rate</a:t>
            </a:r>
            <a:r>
              <a:rPr b="1" sz="1200">
                <a:solidFill>
                  <a:srgbClr val="10B981"/>
                </a:solidFill>
              </a:rPr>
              <a:t>   Current: Near 0%   -&gt;   Target: &gt; 80% in 24h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Closing the loop turns 1-star reviews into updated 4 or 5-star reviews (industry avg 20-30% flip)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37760"/>
            <a:ext cx="106984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 rIns="228600"/>
          <a:lstStyle/>
          <a:p>
            <a:pPr algn="ctr"/>
            <a:r>
              <a:rPr b="1" sz="1300">
                <a:solidFill>
                  <a:srgbClr val="0F172A"/>
                </a:solidFill>
              </a:rPr>
              <a:t>Crash-Free User Sessions</a:t>
            </a:r>
            <a:r>
              <a:rPr b="1" sz="1200">
                <a:solidFill>
                  <a:srgbClr val="10B981"/>
                </a:solidFill>
              </a:rPr>
              <a:t>   Current: ~97.2%   -&gt;   Target: &gt; 99.5%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Resolved via background location foreground service patch on Android 14/15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Conclusion: The Forward Deployed Engineer Mindset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Bridging customer frustration, software engineering, and corporate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spcAft>
                <a:spcPts val="1000"/>
              </a:spcAft>
              <a:defRPr b="1" sz="1700">
                <a:solidFill>
                  <a:srgbClr val="0F172A"/>
                </a:solidFill>
              </a:defRPr>
            </a:pPr>
            <a:r>
              <a:t>Why an FDE Solves This Differently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563EB"/>
                </a:solidFill>
              </a:rPr>
              <a:t>• Listens at the Ground Level:</a:t>
            </a:r>
            <a:r>
              <a:rPr sz="1100">
                <a:solidFill>
                  <a:srgbClr val="0F172A"/>
                </a:solidFill>
              </a:rPr>
              <a:t> Reads Play Store complaints not as noise, but as high-fidelity operational signal.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563EB"/>
                </a:solidFill>
              </a:rPr>
              <a:t>• Fixes the Incentive Misalignment:</a:t>
            </a:r>
            <a:r>
              <a:rPr sz="1100">
                <a:solidFill>
                  <a:srgbClr val="0F172A"/>
                </a:solidFill>
              </a:rPr>
              <a:t> Drivers marked No-Show to hit trip quotas; introducing geofence bounds realigns field behavior.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563EB"/>
                </a:solidFill>
              </a:rPr>
              <a:t>• Builds Tooling, Not Just Spreadsheets:</a:t>
            </a:r>
            <a:r>
              <a:rPr sz="1100">
                <a:solidFill>
                  <a:srgbClr val="0F172A"/>
                </a:solidFill>
              </a:rPr>
              <a:t> Delivered `playstore_pulse.py` so product and engineering have continuous visibility.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563EB"/>
                </a:solidFill>
              </a:rPr>
              <a:t>• Protects Enterprise Contracts:</a:t>
            </a:r>
            <a:r>
              <a:rPr sz="1100">
                <a:solidFill>
                  <a:srgbClr val="0F172A"/>
                </a:solidFill>
              </a:rPr>
              <a:t> Happy employees mean satisfied corporate HR clients and protected renewal revenue.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spcAft>
                <a:spcPts val="1200"/>
              </a:spcAft>
              <a:defRPr b="1" sz="1700">
                <a:solidFill>
                  <a:srgbClr val="F59E0B"/>
                </a:solidFill>
              </a:defRPr>
            </a:pPr>
            <a:r>
              <a:t>Complete Submission Deliverables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📄 Comprehensive PDF Report:</a:t>
            </a:r>
            <a:r>
              <a:rPr sz="1050">
                <a:solidFill>
                  <a:srgbClr val="CBD5E1"/>
                </a:solidFill>
              </a:rPr>
              <a:t> MoveInSync_FDE_Submission_Improved.pdf (8 pages, charts, tables)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📊 Executive Presentation Deck:</a:t>
            </a:r>
            <a:r>
              <a:rPr sz="1050">
                <a:solidFill>
                  <a:srgbClr val="CBD5E1"/>
                </a:solidFill>
              </a:rPr>
              <a:t> MoveInSync_FDE_Presentation_Deck.pptx (8 widescreen slides)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⚡ Python Monitoring Script:</a:t>
            </a:r>
            <a:r>
              <a:rPr sz="1050">
                <a:solidFill>
                  <a:srgbClr val="CBD5E1"/>
                </a:solidFill>
              </a:rPr>
              <a:t> playstore_pulse.py (automated scrapers, NLP categorization, snapshots)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🌐 Interactive Web Dashboard:</a:t>
            </a:r>
            <a:r>
              <a:rPr sz="1050">
                <a:solidFill>
                  <a:srgbClr val="CBD5E1"/>
                </a:solidFill>
              </a:rPr>
              <a:t> Live review triage simulator, sentiment analytics &amp; recovery model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🔗 GitHub Repository:</a:t>
            </a:r>
            <a:r>
              <a:rPr sz="1050">
                <a:solidFill>
                  <a:srgbClr val="CBD5E1"/>
                </a:solidFill>
              </a:rPr>
              <a:t> https://github.com/Rudra152005/MoveInCaseStudy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